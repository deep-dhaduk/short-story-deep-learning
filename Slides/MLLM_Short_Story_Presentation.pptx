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65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 as a story: AI is moving from text-only chatbots to systems that understand and create across many modalities. Mention that this deck supports the Medium article and GitHub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a survey paper, which is strongly recommended by the assignment. Point out the important detail: use the latest arXiv version rather than only the first version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examples: a student uploads a graph, a doctor sees a scan, a creator describes a scene, a robot sees a room. These need more than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MLLMs in simple language. Emphasize that text becomes the common interface for many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modalities: text, image, music, video, human motion, and 3D. Mention that this gives the paper strong coverage of non-standard modalities.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input modalities, modality encoders, projector/adapters, LLM backbone, and output. Keep it high level and avoid math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technique briefly: transformers, diffusion models, self-supervised learning, Mixture of Experts, RLHF, and Chain-of-Thought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concrete prompt example, such as generating a futuristic library. Explain that this is popular because the result is visual and easy to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these modalities are harder than text and images: time, geometry, motion, and subjective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this as the shift from individual tools to a multimodal operating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reproducing all survey models is impossible for a class assignment. A small experiment is acceptable and directly related to multimodal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step: sample images, model inference, generated captions, expected keywords, coverage score, and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limitations. This is a demo metric, not a full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running the notebook, replace the placeholder chart with your actual results. In the video, briefly explain one successful caption and one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five big challenges: evaluation, hallucination, alignment, cross-modal reasoning, and compute/data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independent thinking beyond the paper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future as moving from models that talk to models that see, hear, imagine, and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message: we are moving from models that only talk to models that see, hear, reason, and create.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pic>
        <p:nvPicPr>
          <p:cNvPr id="4" name="Image 0" descr="/mnt/data/medium_images/00_hero_infographic.png"/>
          <p:cNvPicPr>
            <a:picLocks noChangeAspect="1"/>
          </p:cNvPicPr>
          <p:nvPr/>
        </p:nvPicPr>
        <p:blipFill>
          <a:blip r:embed="rId3"/>
          <a:srcRect l="133645" t="4348" r="-133645" b="-4348"/>
          <a:stretch/>
        </p:blipFill>
        <p:spPr>
          <a:xfrm>
            <a:off x="6537960" y="274320"/>
            <a:ext cx="4892040" cy="6309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From Chatbots to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</a:rPr>
              <a:t>World Builders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8580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3E8FF"/>
                </a:solidFill>
              </a:rPr>
              <a:t>A short story review of Multimodal Large Language Models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5212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8F3FF"/>
                </a:solidFill>
              </a:rPr>
              <a:t>Paper: “Multimodal Large Language Models: A Survey”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" y="52578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533095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Survey paper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40280" y="52578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50008" y="533095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Multimodal AI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31920" y="52578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8A7B7"/>
          </a:solidFill>
          <a:ln w="12700">
            <a:solidFill>
              <a:srgbClr val="18A7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41648" y="533095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Foundation models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selected for the review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Why this survey fits the short story assignment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09728" cy="123444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72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Paper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4846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Multimodal Large Language Models: A Survey. arXiv:2506.10016. The latest arXiv version should be used for the assignment because it falls in late 2025.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788920"/>
            <a:ext cx="10972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35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319272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It is a recent survey on foundation models and LLMs, with a strong focus on non-standard modalities beyond 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60520"/>
            <a:ext cx="109728" cy="1234440"/>
          </a:xfrm>
          <a:prstGeom prst="rect">
            <a:avLst/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068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Main value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690872"/>
            <a:ext cx="4846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The paper organizes multimodal generation across text, image, music, video, human motion, and 3D objects.</a:t>
            </a:r>
            <a:endParaRPr lang="en-US" sz="1250" dirty="0"/>
          </a:p>
        </p:txBody>
      </p:sp>
      <p:pic>
        <p:nvPicPr>
          <p:cNvPr id="18" name="Image 0" descr="/mnt/data/medium_images/02_six_modalit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325880"/>
            <a:ext cx="5257800" cy="4343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0" y="5897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</a:rPr>
              <a:t>Use latest arXiv version, not only the original v1 PDF link.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multimodal LLMs matter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The real world is not text-only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49834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827"/>
                </a:solidFill>
              </a:rPr>
              <a:t>Traditional LLMs are excellent at reading and writing text, but human understanding uses many signals at the same time: vision, sound, motion, space, and language.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68C4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916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See images and scenes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A4CFF"/>
                </a:solidFill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916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Hear music and audio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69164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Understand time in videos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9164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Create motion and 3D worlds</a:t>
            </a:r>
            <a:endParaRPr lang="en-US" sz="1550" dirty="0"/>
          </a:p>
        </p:txBody>
      </p:sp>
      <p:pic>
        <p:nvPicPr>
          <p:cNvPr id="15" name="Image 0" descr="/mnt/data/medium_images/00_hero_infograph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0760" y="1051560"/>
            <a:ext cx="544068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Multimodal LLM?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A language model connected to other forms of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09728" cy="192024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Text-only 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3063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Input and output are mainly text: questions, summaries, code, translation, explanations.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25880"/>
            <a:ext cx="109728" cy="192024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72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Multimodal 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856232"/>
            <a:ext cx="3063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Connects language with images, audio, video, motion, and 3D data through specialized encoders and generators.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25880"/>
            <a:ext cx="109728" cy="1920240"/>
          </a:xfrm>
          <a:prstGeom prst="rect">
            <a:avLst/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472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language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1856232"/>
            <a:ext cx="3063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Natural language becomes the interface for controlling and explaining many types of digital content.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102412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Describe an image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Generate an image from text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Explain a video scene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Create music from a prompt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Generate a 3D object or motion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generative directions in the survey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The paper is broader than image captioning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5</a:t>
            </a:r>
            <a:endParaRPr lang="en-US" sz="850" dirty="0"/>
          </a:p>
        </p:txBody>
      </p:sp>
      <p:pic>
        <p:nvPicPr>
          <p:cNvPr id="6" name="Image 0" descr="/mnt/data/medium_images/02_six_modalit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143000"/>
            <a:ext cx="110642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typical MLLM architecture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Encoders translate different modalities into language-model-friendly representations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6</a:t>
            </a:r>
            <a:endParaRPr lang="en-US" sz="850" dirty="0"/>
          </a:p>
        </p:txBody>
      </p:sp>
      <p:pic>
        <p:nvPicPr>
          <p:cNvPr id="6" name="Image 0" descr="/mnt/data/medium_images/01_mllm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143000"/>
            <a:ext cx="110642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techniques behind modern MLLMs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The survey connects many model-building ideas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7</a:t>
            </a:r>
            <a:endParaRPr lang="en-US" sz="850" dirty="0"/>
          </a:p>
        </p:txBody>
      </p:sp>
      <p:pic>
        <p:nvPicPr>
          <p:cNvPr id="6" name="Image 0" descr="/mnt/data/medium_images/03_core_techniqu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43000"/>
            <a:ext cx="111099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Text-to-image: language becomes a creative brush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From prompt to visual composition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4846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Text-to-image models show how language can control visual generation. The model must understand objects, styles, colors, layout, and relationships.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109728" cy="91440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352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Prompt understanding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3192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The system maps words like “futuristic classroom” or “sunset city” into visual concepts.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977640"/>
            <a:ext cx="109728" cy="914400"/>
          </a:xfrm>
          <a:prstGeom prst="rect">
            <a:avLst/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1239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Visual generation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50799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Diffusion-style methods generate realistic or artistic images that match the prompt.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1663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3126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Use cases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6967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Design, marketing, education, prototyping, entertainment, and creative storytelling.</a:t>
            </a:r>
            <a:endParaRPr lang="en-US" sz="1250" dirty="0"/>
          </a:p>
        </p:txBody>
      </p:sp>
      <p:pic>
        <p:nvPicPr>
          <p:cNvPr id="19" name="Image 0" descr="/mnt/data/medium_images/00_hero_infograph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00" y="1051560"/>
            <a:ext cx="516636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Beyond images: music, video, motion, and 3D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The survey shows multimodal generation is expanding fast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80160"/>
            <a:ext cx="109728" cy="914400"/>
          </a:xfrm>
          <a:prstGeom prst="rect">
            <a:avLst/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Text-to-music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Generate melodies or audio that match mood, tempo, and description.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14600"/>
            <a:ext cx="109728" cy="91440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60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Text-to-video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044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Generate dynamic scenes that require temporal consistency and motion.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74904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74904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95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Text-to-human-motion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279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Translate language into body movements for avatars, games, and robotics.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9834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98348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29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Text-to-3D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513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Create 3D assets with geometry, texture, and multi-view consistency.</a:t>
            </a:r>
            <a:endParaRPr lang="en-US" sz="1250" dirty="0"/>
          </a:p>
        </p:txBody>
      </p:sp>
      <p:pic>
        <p:nvPicPr>
          <p:cNvPr id="22" name="Image 0" descr="/mnt/data/medium_images/02_six_modalit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143000"/>
            <a:ext cx="50749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trend: from separate tools to unified systems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The future is not one isolated model per task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515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Earlier systems were often specialized: one model for captioning, one for image generation, one for video, and one for 3D. Newer systems move toward shared language backbones with modality-specific components.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43200"/>
            <a:ext cx="109728" cy="123444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89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Shared backbone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A central LLM handles instruction following and reasoning.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74320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743200"/>
            <a:ext cx="109728" cy="123444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889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Modality adapters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3273552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Encoders/projectors connect images, audio, video, and 3D to the LLM.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74320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743200"/>
            <a:ext cx="109728" cy="1234440"/>
          </a:xfrm>
          <a:prstGeom prst="rect">
            <a:avLst/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889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Cross-modal transfer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273552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Learning in one modality can help another modality.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100584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More unified interfaces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More flexible task handling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Better reuse of learned knowledge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Need stronger evaluation and alignment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Reproduction experiment for GitHub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A small, practical demo inspired by the survey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104241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Because the paper is a survey, the reproduction focuses on a small representative MLLM task: image-to-text understanding using an open-source vision-language model.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06040"/>
            <a:ext cx="109728" cy="132588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52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136392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Generate captions for sample images and compare them with expected visual concepts.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260604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606040"/>
            <a:ext cx="10972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752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Metric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136392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Keyword coverage score: how many expected concepts appear in the generated caption.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60604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606040"/>
            <a:ext cx="109728" cy="1325880"/>
          </a:xfrm>
          <a:prstGeom prst="rect">
            <a:avLst/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752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Output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136392"/>
            <a:ext cx="2926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Tables, charts, and interpretation for the Medium article, slides, and README.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</a:rPr>
              <a:t>Goal: demonstrate the basic principle behind multimodal learning, not train a huge foundation model from scratch.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workflow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From images to captions to simple evaluation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12</a:t>
            </a:r>
            <a:endParaRPr lang="en-US" sz="850" dirty="0"/>
          </a:p>
        </p:txBody>
      </p:sp>
      <p:pic>
        <p:nvPicPr>
          <p:cNvPr id="6" name="Image 0" descr="/mnt/data/medium_images/04_reproduction_work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143000"/>
            <a:ext cx="110642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Evaluation: simple, transparent, and explainable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A small metric that makes the demo easy to discuss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4937760" cy="146304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109728" cy="146304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80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Keyword coverage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76479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For each image, define expected concepts such as “dog,” “street,” or “food.” Check whether the generated caption includes those concepts.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4937760" cy="146304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71800"/>
            <a:ext cx="109728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18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this metric?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50215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It is easy to understand, easy to reproduce, and enough to demonstrate image-language alignment at a small scale.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709160"/>
            <a:ext cx="10972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855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5239512"/>
            <a:ext cx="4572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It does not fully measure reasoning, caption quality, style, or hallucination. It is a classroom-scale proxy metric.</a:t>
            </a:r>
            <a:endParaRPr lang="en-US" sz="1250" dirty="0"/>
          </a:p>
        </p:txBody>
      </p:sp>
      <p:pic>
        <p:nvPicPr>
          <p:cNvPr id="18" name="Image 0" descr="/mnt/data/medium_images/05_results_placeholder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234440"/>
            <a:ext cx="50292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results and interpretation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What the notebook is designed to show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14</a:t>
            </a:r>
            <a:endParaRPr lang="en-US" sz="850" dirty="0"/>
          </a:p>
        </p:txBody>
      </p:sp>
      <p:pic>
        <p:nvPicPr>
          <p:cNvPr id="6" name="Image 0" descr="/mnt/data/medium_images/05_results_placeholder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143000"/>
            <a:ext cx="5257800" cy="4983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50876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Simple images usually receive relevant captions.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The model may miss small details or relationships.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Keyword scores make success and failure easy to inspect.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The result illustrates the core MLLM idea: mapping visual information into language.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0" y="4892040"/>
            <a:ext cx="4709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Replace this placeholder chart with the real chart generated after running the notebook.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challenges in Multimodal LLMs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The paper emphasizes that progress is real, but the field is not solved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15</a:t>
            </a:r>
            <a:endParaRPr lang="en-US" sz="850" dirty="0"/>
          </a:p>
        </p:txBody>
      </p:sp>
      <p:pic>
        <p:nvPicPr>
          <p:cNvPr id="6" name="Image 0" descr="/mnt/data/medium_images/06_mllm_challeng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143000"/>
            <a:ext cx="110642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risks and ethical concerns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More powerful generation creates new responsibilities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0972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Misinformation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Realistic generated images, audio, and video can be misused if provenance is unclear.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97480"/>
            <a:ext cx="10972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43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Bias and representation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22783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Multimodal datasets may reflect social, cultural, or geographic bias.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69080"/>
            <a:ext cx="109728" cy="1051560"/>
          </a:xfrm>
          <a:prstGeom prst="rect">
            <a:avLst/>
          </a:prstGeom>
          <a:solidFill>
            <a:srgbClr val="6A4CFF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15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Copyright and ownership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59943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Generated media raises questions about training data, attribution, and creator rights.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132588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325880"/>
            <a:ext cx="109728" cy="1051560"/>
          </a:xfrm>
          <a:prstGeom prst="rect">
            <a:avLst/>
          </a:prstGeom>
          <a:solidFill>
            <a:srgbClr val="2368C4"/>
          </a:solidFill>
          <a:ln w="12700">
            <a:solidFill>
              <a:srgbClr val="236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472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Safety in high-stakes settings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185623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Errors in healthcare, law, robotics, and security can have serious consequences.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269748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697480"/>
            <a:ext cx="10972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843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Hallucinated observations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322783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A model may describe objects, actions, or details that are not actually present.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06908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4069080"/>
            <a:ext cx="109728" cy="105156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215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Need for evaluation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0" y="4599432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Reliable multimodal benchmarks and human-centered evaluation remain critical.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directions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Where multimodal foundation models are likely heading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492"/>
                </a:solidFill>
              </a:rPr>
              <a:t>Multimodal LLM Survey Review | 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5486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More unified multimodal architectures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Better benchmarks for reasoning and alignment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Efficient training with modular and expert-based models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Improved safety, provenance, and content authenticity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827"/>
                </a:solidFill>
              </a:rPr>
              <a:t>Applications in education, healthcare, robotics, design, and 3D creation</a:t>
            </a:r>
            <a:endParaRPr lang="en-US" sz="2100" dirty="0"/>
          </a:p>
        </p:txBody>
      </p:sp>
      <p:pic>
        <p:nvPicPr>
          <p:cNvPr id="7" name="Image 0" descr="/mnt/data/medium_images/01_mllm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1188720"/>
            <a:ext cx="4983480" cy="2651760"/>
          </a:xfrm>
          <a:prstGeom prst="rect">
            <a:avLst/>
          </a:prstGeom>
        </p:spPr>
      </p:pic>
      <p:pic>
        <p:nvPicPr>
          <p:cNvPr id="8" name="Image 1" descr="/mnt/data/medium_images/06_mllm_challeng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4069080"/>
            <a:ext cx="498348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77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E3FF"/>
                </a:solidFill>
              </a:rPr>
              <a:t>Final takeaway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7607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Multimodal LLMs are not just better chatbots.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They are becoming interfaces for creating and understanding digital worlds.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5349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3E8FF"/>
                </a:solidFill>
              </a:rPr>
              <a:t>Primary reference: Han et al., “Multimodal Large Language Models: A Survey,” arXiv:2506.10016.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1636</Words>
  <Application>Microsoft Office PowerPoint</Application>
  <PresentationFormat>Widescreen</PresentationFormat>
  <Paragraphs>184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San Jose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Chatbots to World Builders</dc:title>
  <dc:subject>Short Story Assignment - Multimodal Large Language Models</dc:subject>
  <dc:creator>Deep Dhaduk</dc:creator>
  <cp:lastModifiedBy>Deep Dhaduk</cp:lastModifiedBy>
  <cp:revision>3</cp:revision>
  <dcterms:created xsi:type="dcterms:W3CDTF">2026-05-10T01:52:56Z</dcterms:created>
  <dcterms:modified xsi:type="dcterms:W3CDTF">2026-05-10T02:24:17Z</dcterms:modified>
</cp:coreProperties>
</file>